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UK Contracts for Difference: Energy Analytics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PROJECT INTRODUCTION</a:t>
            </a:r>
          </a:p>
        </p:txBody>
      </p:sp>
      <p:sp>
        <p:nvSpPr>
          <p:cNvPr id="12" name="Rounded Rectangle 11"/>
          <p:cNvSpPr/>
          <p:nvPr/>
        </p:nvSpPr>
        <p:spPr>
          <a:xfrm>
            <a:off x="557784" y="1033271"/>
            <a:ext cx="3813048" cy="5047488"/>
          </a:xfrm>
          <a:prstGeom prst="roundRect">
            <a:avLst>
              <a:gd name="adj" fmla="val 12000"/>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77824" y="1517904"/>
            <a:ext cx="1106424" cy="384048"/>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98448" y="1965960"/>
            <a:ext cx="1106424" cy="384048"/>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719072" y="2414016"/>
            <a:ext cx="1106424" cy="384048"/>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 y="3712463"/>
            <a:ext cx="3310128" cy="3657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Independent portfolio project</a:t>
            </a:r>
          </a:p>
        </p:txBody>
      </p:sp>
      <p:sp>
        <p:nvSpPr>
          <p:cNvPr id="17" name="TextBox 16"/>
          <p:cNvSpPr txBox="1"/>
          <p:nvPr/>
        </p:nvSpPr>
        <p:spPr>
          <a:xfrm>
            <a:off x="795528" y="4242816"/>
            <a:ext cx="3200400" cy="77724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FFFFFF"/>
                </a:solidFill>
                <a:latin typeface="Aptos"/>
              </a:rPr>
              <a:t>Low Carbon Contracts Company public datasets</a:t>
            </a:r>
          </a:p>
        </p:txBody>
      </p:sp>
      <p:sp>
        <p:nvSpPr>
          <p:cNvPr id="18" name="TextBox 17"/>
          <p:cNvSpPr txBox="1"/>
          <p:nvPr/>
        </p:nvSpPr>
        <p:spPr>
          <a:xfrm>
            <a:off x="4818888" y="1408176"/>
            <a:ext cx="6565392" cy="126187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Renewable generation, CfD settlements, auction outcomes and forward looking forecasts</a:t>
            </a:r>
          </a:p>
        </p:txBody>
      </p:sp>
      <p:sp>
        <p:nvSpPr>
          <p:cNvPr id="19" name="TextBox 18"/>
          <p:cNvSpPr txBox="1"/>
          <p:nvPr/>
        </p:nvSpPr>
        <p:spPr>
          <a:xfrm>
            <a:off x="4818888" y="2990088"/>
            <a:ext cx="6318504" cy="141732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Analysis period</a:t>
            </a:r>
          </a:p>
          <a:p>
            <a:pPr algn="l">
              <a:lnSpc>
                <a:spcPct val="112000"/>
              </a:lnSpc>
              <a:spcBef>
                <a:spcPts val="0"/>
              </a:spcBef>
              <a:spcAft>
                <a:spcPts val="0"/>
              </a:spcAft>
            </a:pPr>
            <a:r>
              <a:rPr sz="1300" b="0" i="0">
                <a:solidFill>
                  <a:srgbClr val="1C2D25"/>
                </a:solidFill>
                <a:latin typeface="Aptos"/>
              </a:rPr>
              <a:t>June 2016 to September 2026 for historical data</a:t>
            </a:r>
          </a:p>
          <a:p>
            <a:pPr algn="l">
              <a:lnSpc>
                <a:spcPct val="112000"/>
              </a:lnSpc>
              <a:spcBef>
                <a:spcPts val="0"/>
              </a:spcBef>
              <a:spcAft>
                <a:spcPts val="0"/>
              </a:spcAft>
            </a:pPr>
            <a:r>
              <a:rPr sz="1300" b="0" i="0">
                <a:solidFill>
                  <a:srgbClr val="1C2D25"/>
                </a:solidFill>
                <a:latin typeface="Aptos"/>
              </a:rPr>
              <a:t>October 2026 to March 2027 for paired payment forecasts</a:t>
            </a:r>
          </a:p>
        </p:txBody>
      </p:sp>
      <p:sp>
        <p:nvSpPr>
          <p:cNvPr id="20" name="TextBox 19"/>
          <p:cNvSpPr txBox="1"/>
          <p:nvPr/>
        </p:nvSpPr>
        <p:spPr>
          <a:xfrm>
            <a:off x="4818888" y="5202936"/>
            <a:ext cx="6108192" cy="50292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1" i="0">
                <a:solidFill>
                  <a:srgbClr val="15402B"/>
                </a:solidFill>
                <a:latin typeface="Aptos"/>
              </a:rPr>
              <a:t>Python  |  Jupyter Notebook  |  Tableau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Research aim and questions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PROJECT INTRODUCTION</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used LCCC published data to understand how renewable generation, market prices, contractual payments and forecasts relate to one another.</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Generation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How much CfD supported electricity has been produced over time? I look at annual and monthly totals, technology shares and leading projects, while separating supported generation from total UK renewable output.</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Financial performance</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How have the signed payments to generators changed, especially during periods of high electricity prices? I compare payments with generation weighted strike and reference prices rather than treating all payments as positive.</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Contracts and auctions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What does the current contract portfolio show about capacity and technology mix? I distinguish awarded capacity and contract status from projects that have actually started operating.</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Forecasting and delivery</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How do updated forward payment estimates differ from their initial versions? I compare matched dates and describe revisions, while avoiding actual versus forecast accuracy claims where actual payments are missing.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Data sources and reporting grain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PROJECT INTRODUCTION</a:t>
            </a:r>
          </a:p>
        </p:txBody>
      </p:sp>
      <p:sp>
        <p:nvSpPr>
          <p:cNvPr id="12" name="TextBox 11"/>
          <p:cNvSpPr txBox="1"/>
          <p:nvPr/>
        </p:nvSpPr>
        <p:spPr>
          <a:xfrm>
            <a:off x="548640" y="868680"/>
            <a:ext cx="10881360" cy="51206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Six LCCC public CSV snapshots were analysed. Each dataset was retained at its own reporting level.</a:t>
            </a:r>
          </a:p>
        </p:txBody>
      </p:sp>
      <p:sp>
        <p:nvSpPr>
          <p:cNvPr id="13" name="Rounded Rectangle 12"/>
          <p:cNvSpPr/>
          <p:nvPr/>
        </p:nvSpPr>
        <p:spPr>
          <a:xfrm>
            <a:off x="548640" y="1581912"/>
            <a:ext cx="11064240" cy="493776"/>
          </a:xfrm>
          <a:prstGeom prst="roundRect">
            <a:avLst>
              <a:gd name="adj" fmla="val 12000"/>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728216"/>
            <a:ext cx="5120640" cy="19202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1" i="0">
                <a:solidFill>
                  <a:srgbClr val="FFFFFF"/>
                </a:solidFill>
                <a:latin typeface="Aptos"/>
              </a:rPr>
              <a:t>DATASET</a:t>
            </a:r>
          </a:p>
        </p:txBody>
      </p:sp>
      <p:sp>
        <p:nvSpPr>
          <p:cNvPr id="15" name="TextBox 14"/>
          <p:cNvSpPr txBox="1"/>
          <p:nvPr/>
        </p:nvSpPr>
        <p:spPr>
          <a:xfrm>
            <a:off x="6126480" y="1728216"/>
            <a:ext cx="1005840" cy="19202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1" i="0">
                <a:solidFill>
                  <a:srgbClr val="FFFFFF"/>
                </a:solidFill>
                <a:latin typeface="Aptos"/>
              </a:rPr>
              <a:t>ROWS</a:t>
            </a:r>
          </a:p>
        </p:txBody>
      </p:sp>
      <p:sp>
        <p:nvSpPr>
          <p:cNvPr id="16" name="TextBox 15"/>
          <p:cNvSpPr txBox="1"/>
          <p:nvPr/>
        </p:nvSpPr>
        <p:spPr>
          <a:xfrm>
            <a:off x="7662672" y="1728216"/>
            <a:ext cx="3657600" cy="19202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1" i="0">
                <a:solidFill>
                  <a:srgbClr val="FFFFFF"/>
                </a:solidFill>
                <a:latin typeface="Aptos"/>
              </a:rPr>
              <a:t>OBSERVATION LEVEL</a:t>
            </a:r>
          </a:p>
        </p:txBody>
      </p:sp>
      <p:sp>
        <p:nvSpPr>
          <p:cNvPr id="17" name="Rectangle 16"/>
          <p:cNvSpPr/>
          <p:nvPr/>
        </p:nvSpPr>
        <p:spPr>
          <a:xfrm>
            <a:off x="557784" y="2121408"/>
            <a:ext cx="11036808" cy="521207"/>
          </a:xfrm>
          <a:prstGeom prst="rect">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240279"/>
            <a:ext cx="516636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Historical generation and avoided GHG</a:t>
            </a:r>
          </a:p>
        </p:txBody>
      </p:sp>
      <p:sp>
        <p:nvSpPr>
          <p:cNvPr id="19" name="TextBox 18"/>
          <p:cNvSpPr txBox="1"/>
          <p:nvPr/>
        </p:nvSpPr>
        <p:spPr>
          <a:xfrm>
            <a:off x="6126480" y="2240279"/>
            <a:ext cx="118872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117,877</a:t>
            </a:r>
          </a:p>
        </p:txBody>
      </p:sp>
      <p:sp>
        <p:nvSpPr>
          <p:cNvPr id="20" name="TextBox 19"/>
          <p:cNvSpPr txBox="1"/>
          <p:nvPr/>
        </p:nvSpPr>
        <p:spPr>
          <a:xfrm>
            <a:off x="7662672" y="2240279"/>
            <a:ext cx="3739896"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CfD unit and settlement day</a:t>
            </a:r>
          </a:p>
        </p:txBody>
      </p:sp>
      <p:sp>
        <p:nvSpPr>
          <p:cNvPr id="21" name="TextBox 20"/>
          <p:cNvSpPr txBox="1"/>
          <p:nvPr/>
        </p:nvSpPr>
        <p:spPr>
          <a:xfrm>
            <a:off x="640080" y="2798063"/>
            <a:ext cx="516636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CfD contract portfolio</a:t>
            </a:r>
          </a:p>
        </p:txBody>
      </p:sp>
      <p:sp>
        <p:nvSpPr>
          <p:cNvPr id="22" name="TextBox 21"/>
          <p:cNvSpPr txBox="1"/>
          <p:nvPr/>
        </p:nvSpPr>
        <p:spPr>
          <a:xfrm>
            <a:off x="6126480" y="2798063"/>
            <a:ext cx="118872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610</a:t>
            </a:r>
          </a:p>
        </p:txBody>
      </p:sp>
      <p:sp>
        <p:nvSpPr>
          <p:cNvPr id="23" name="TextBox 22"/>
          <p:cNvSpPr txBox="1"/>
          <p:nvPr/>
        </p:nvSpPr>
        <p:spPr>
          <a:xfrm>
            <a:off x="7662672" y="2798063"/>
            <a:ext cx="3739896"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Contract status snapshot</a:t>
            </a:r>
          </a:p>
        </p:txBody>
      </p:sp>
      <p:sp>
        <p:nvSpPr>
          <p:cNvPr id="24" name="Rectangle 23"/>
          <p:cNvSpPr/>
          <p:nvPr/>
        </p:nvSpPr>
        <p:spPr>
          <a:xfrm>
            <a:off x="557784" y="3236976"/>
            <a:ext cx="11036808" cy="521207"/>
          </a:xfrm>
          <a:prstGeom prst="rect">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355848"/>
            <a:ext cx="516636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Auction outcomes</a:t>
            </a:r>
          </a:p>
        </p:txBody>
      </p:sp>
      <p:sp>
        <p:nvSpPr>
          <p:cNvPr id="26" name="TextBox 25"/>
          <p:cNvSpPr txBox="1"/>
          <p:nvPr/>
        </p:nvSpPr>
        <p:spPr>
          <a:xfrm>
            <a:off x="6126480" y="3355848"/>
            <a:ext cx="118872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570</a:t>
            </a:r>
          </a:p>
        </p:txBody>
      </p:sp>
      <p:sp>
        <p:nvSpPr>
          <p:cNvPr id="27" name="TextBox 26"/>
          <p:cNvSpPr txBox="1"/>
          <p:nvPr/>
        </p:nvSpPr>
        <p:spPr>
          <a:xfrm>
            <a:off x="7662672" y="3355848"/>
            <a:ext cx="3739896"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Published project award</a:t>
            </a:r>
          </a:p>
        </p:txBody>
      </p:sp>
      <p:sp>
        <p:nvSpPr>
          <p:cNvPr id="28" name="TextBox 27"/>
          <p:cNvSpPr txBox="1"/>
          <p:nvPr/>
        </p:nvSpPr>
        <p:spPr>
          <a:xfrm>
            <a:off x="640080" y="3913632"/>
            <a:ext cx="516636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Financial year strike and market prices</a:t>
            </a:r>
          </a:p>
        </p:txBody>
      </p:sp>
      <p:sp>
        <p:nvSpPr>
          <p:cNvPr id="29" name="TextBox 28"/>
          <p:cNvSpPr txBox="1"/>
          <p:nvPr/>
        </p:nvSpPr>
        <p:spPr>
          <a:xfrm>
            <a:off x="6126480" y="3913632"/>
            <a:ext cx="118872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323</a:t>
            </a:r>
          </a:p>
        </p:txBody>
      </p:sp>
      <p:sp>
        <p:nvSpPr>
          <p:cNvPr id="30" name="TextBox 29"/>
          <p:cNvSpPr txBox="1"/>
          <p:nvPr/>
        </p:nvSpPr>
        <p:spPr>
          <a:xfrm>
            <a:off x="7662672" y="3913632"/>
            <a:ext cx="3739896"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Financial year and technology</a:t>
            </a:r>
          </a:p>
        </p:txBody>
      </p:sp>
      <p:sp>
        <p:nvSpPr>
          <p:cNvPr id="31" name="Rectangle 30"/>
          <p:cNvSpPr/>
          <p:nvPr/>
        </p:nvSpPr>
        <p:spPr>
          <a:xfrm>
            <a:off x="557784" y="4352544"/>
            <a:ext cx="11036808" cy="521207"/>
          </a:xfrm>
          <a:prstGeom prst="rect">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4471416"/>
            <a:ext cx="516636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Forecast market reference prices</a:t>
            </a:r>
          </a:p>
        </p:txBody>
      </p:sp>
      <p:sp>
        <p:nvSpPr>
          <p:cNvPr id="33" name="TextBox 32"/>
          <p:cNvSpPr txBox="1"/>
          <p:nvPr/>
        </p:nvSpPr>
        <p:spPr>
          <a:xfrm>
            <a:off x="6126480" y="4471416"/>
            <a:ext cx="118872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2,505</a:t>
            </a:r>
          </a:p>
        </p:txBody>
      </p:sp>
      <p:sp>
        <p:nvSpPr>
          <p:cNvPr id="34" name="TextBox 33"/>
          <p:cNvSpPr txBox="1"/>
          <p:nvPr/>
        </p:nvSpPr>
        <p:spPr>
          <a:xfrm>
            <a:off x="7662672" y="4471416"/>
            <a:ext cx="3739896"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Forecast determination and day</a:t>
            </a:r>
          </a:p>
        </p:txBody>
      </p:sp>
      <p:sp>
        <p:nvSpPr>
          <p:cNvPr id="35" name="TextBox 34"/>
          <p:cNvSpPr txBox="1"/>
          <p:nvPr/>
        </p:nvSpPr>
        <p:spPr>
          <a:xfrm>
            <a:off x="640080" y="5029199"/>
            <a:ext cx="516636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In period tracking</a:t>
            </a:r>
          </a:p>
        </p:txBody>
      </p:sp>
      <p:sp>
        <p:nvSpPr>
          <p:cNvPr id="36" name="TextBox 35"/>
          <p:cNvSpPr txBox="1"/>
          <p:nvPr/>
        </p:nvSpPr>
        <p:spPr>
          <a:xfrm>
            <a:off x="6126480" y="5029199"/>
            <a:ext cx="118872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457</a:t>
            </a:r>
          </a:p>
        </p:txBody>
      </p:sp>
      <p:sp>
        <p:nvSpPr>
          <p:cNvPr id="37" name="TextBox 36"/>
          <p:cNvSpPr txBox="1"/>
          <p:nvPr/>
        </p:nvSpPr>
        <p:spPr>
          <a:xfrm>
            <a:off x="7662672" y="5029199"/>
            <a:ext cx="3739896"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Forecast settlement day</a:t>
            </a:r>
          </a:p>
        </p:txBody>
      </p:sp>
      <p:sp>
        <p:nvSpPr>
          <p:cNvPr id="38" name="TextBox 37"/>
          <p:cNvSpPr txBox="1"/>
          <p:nvPr/>
        </p:nvSpPr>
        <p:spPr>
          <a:xfrm>
            <a:off x="612648" y="5742432"/>
            <a:ext cx="10927080" cy="46634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5402B"/>
                </a:solidFill>
                <a:latin typeface="Aptos"/>
              </a:rPr>
              <a:t>A row by row merge would duplicate values, so the Tableau export was built as a long format table with a reporting group and metric.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Data preparation and integrity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PROJECT INTRODUCTION</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analysis preserves the original meaning of each input instead of forcing unrelated sources into one wide table.</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Loading and standardisation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loaded all six CSV files from the data/raw folder. I normalised date types, trimmed labels and checked for exact duplicates before calculating performance indicators. The notebook retains executed results for review.</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Missing information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Missing payments are not replaced with zeros. The tracking download had no populated actual CfD payment records, so the forecast section studies changes between releases rather than accuracy against real outcomes.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Economic interpretation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Generation remains in MWh before conversion to TWh. Payments retain their positive and negative signs. For a price comparison I use generation weighted means, because a straight unit average would overrepresent small units.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Quality controls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final Tableau dataset reconciles with the raw files for generation, net payments, estimated avoided GHG, portfolio capacity and auction capacity. Those five checks passed within numeric rounding tolerance.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Python analysis and EDA</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39496" y="960120"/>
            <a:ext cx="2926080" cy="5175504"/>
          </a:xfrm>
          <a:prstGeom prst="roundRect">
            <a:avLst>
              <a:gd name="adj" fmla="val 12000"/>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41832" y="1600200"/>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98448" y="2048256"/>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655064" y="2496312"/>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3675887"/>
            <a:ext cx="2267712" cy="384048"/>
          </a:xfrm>
          <a:prstGeom prst="rect">
            <a:avLst/>
          </a:prstGeom>
          <a:noFill/>
        </p:spPr>
        <p:txBody>
          <a:bodyPr wrap="square" lIns="27432" tIns="27432" rIns="27432" bIns="27432" anchor="t">
            <a:spAutoFit/>
          </a:bodyPr>
          <a:lstStyle/>
          <a:p>
            <a:pPr algn="ctr">
              <a:lnSpc>
                <a:spcPct val="112000"/>
              </a:lnSpc>
              <a:spcBef>
                <a:spcPts val="0"/>
              </a:spcBef>
              <a:spcAft>
                <a:spcPts val="0"/>
              </a:spcAft>
            </a:pPr>
            <a:r>
              <a:rPr sz="1400" b="1" i="0">
                <a:solidFill>
                  <a:srgbClr val="FFFFFF"/>
                </a:solidFill>
                <a:latin typeface="Aptos"/>
              </a:rPr>
              <a:t>UK  CfD</a:t>
            </a:r>
          </a:p>
        </p:txBody>
      </p:sp>
      <p:sp>
        <p:nvSpPr>
          <p:cNvPr id="17" name="TextBox 16"/>
          <p:cNvSpPr txBox="1"/>
          <p:nvPr/>
        </p:nvSpPr>
        <p:spPr>
          <a:xfrm>
            <a:off x="731520" y="4187952"/>
            <a:ext cx="2505456" cy="365760"/>
          </a:xfrm>
          <a:prstGeom prst="rect">
            <a:avLst/>
          </a:prstGeom>
          <a:noFill/>
        </p:spPr>
        <p:txBody>
          <a:bodyPr wrap="square" lIns="27432" tIns="27432" rIns="27432" bIns="27432" anchor="t">
            <a:spAutoFit/>
          </a:bodyPr>
          <a:lstStyle/>
          <a:p>
            <a:pPr algn="ctr">
              <a:lnSpc>
                <a:spcPct val="112000"/>
              </a:lnSpc>
              <a:spcBef>
                <a:spcPts val="0"/>
              </a:spcBef>
              <a:spcAft>
                <a:spcPts val="0"/>
              </a:spcAft>
            </a:pPr>
            <a:r>
              <a:rPr sz="1300" b="0" i="0">
                <a:solidFill>
                  <a:srgbClr val="FFFFFF"/>
                </a:solidFill>
                <a:latin typeface="Aptos"/>
              </a:rPr>
              <a:t>LCCC open data</a:t>
            </a:r>
          </a:p>
        </p:txBody>
      </p:sp>
      <p:sp>
        <p:nvSpPr>
          <p:cNvPr id="18" name="TextBox 17"/>
          <p:cNvSpPr txBox="1"/>
          <p:nvPr/>
        </p:nvSpPr>
        <p:spPr>
          <a:xfrm>
            <a:off x="3931920" y="1088136"/>
            <a:ext cx="7644383" cy="97840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18 executed notebook visualisations</a:t>
            </a:r>
          </a:p>
        </p:txBody>
      </p:sp>
      <p:sp>
        <p:nvSpPr>
          <p:cNvPr id="19" name="Rectangle 18"/>
          <p:cNvSpPr/>
          <p:nvPr/>
        </p:nvSpPr>
        <p:spPr>
          <a:xfrm>
            <a:off x="3968496" y="2240280"/>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70248" y="2295144"/>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First I inspect source coverage and data quality to understand what can be compared safely.</a:t>
            </a:r>
          </a:p>
        </p:txBody>
      </p:sp>
      <p:sp>
        <p:nvSpPr>
          <p:cNvPr id="21" name="Rectangle 20"/>
          <p:cNvSpPr/>
          <p:nvPr/>
        </p:nvSpPr>
        <p:spPr>
          <a:xfrm>
            <a:off x="3968496" y="3127248"/>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70248" y="3182112"/>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then analyse generation, market prices, settlement payments and estimated carbon outcomes.</a:t>
            </a:r>
          </a:p>
        </p:txBody>
      </p:sp>
      <p:sp>
        <p:nvSpPr>
          <p:cNvPr id="23" name="Rectangle 22"/>
          <p:cNvSpPr/>
          <p:nvPr/>
        </p:nvSpPr>
        <p:spPr>
          <a:xfrm>
            <a:off x="3968496" y="4014216"/>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4069080"/>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Portfolio contracts and auction awards provide the project pipeline context.</a:t>
            </a:r>
          </a:p>
        </p:txBody>
      </p:sp>
      <p:sp>
        <p:nvSpPr>
          <p:cNvPr id="25" name="Rectangle 24"/>
          <p:cNvSpPr/>
          <p:nvPr/>
        </p:nvSpPr>
        <p:spPr>
          <a:xfrm>
            <a:off x="3968496" y="4901184"/>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70248" y="4956048"/>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Finally, forecast tables are evaluated and consolidated for use in Tableau.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01 - Column completeness by data source</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1.png"/>
          <p:cNvPicPr>
            <a:picLocks noChangeAspect="1"/>
          </p:cNvPicPr>
          <p:nvPr/>
        </p:nvPicPr>
        <p:blipFill>
          <a:blip r:embed="rId2"/>
          <a:stretch>
            <a:fillRect/>
          </a:stretch>
        </p:blipFill>
        <p:spPr>
          <a:xfrm>
            <a:off x="521207" y="1170020"/>
            <a:ext cx="11146536" cy="462768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Column completeness by data source</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data quality scan identifies incomplete fields before any aggregation or financial comparisons are made.</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Chart purpose</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1 summarises the proportion of missing values by column and source. It is a check on source coverage, not a score of organisational data quality.</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Historical versus forecasts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Historical unit settlement data provides the base for generation and payments. In period tracking contains 457 rows, but the actual CfD payment field has no populated observations.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I preserved</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Observed zeros and negative amounts are valid financial or operational records. I removed only exact duplicate rows and avoided filling missing observations with zeros.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Decision for Tableau</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Forecasts are tagged separately from actual historical settlement values. This prevents a dashboard from accidentally presenting forecast revisions as realised financial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02 - Annual CfD supported generation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2.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03 - Cumulative generation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09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3.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04 - Monthly generation mix</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4.png"/>
          <p:cNvPicPr>
            <a:picLocks noChangeAspect="1"/>
          </p:cNvPicPr>
          <p:nvPr/>
        </p:nvPicPr>
        <p:blipFill>
          <a:blip r:embed="rId2"/>
          <a:stretch>
            <a:fillRect/>
          </a:stretch>
        </p:blipFill>
        <p:spPr>
          <a:xfrm>
            <a:off x="521207" y="983091"/>
            <a:ext cx="11146536" cy="5001545"/>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Monthly generation mix</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historical generation charts show expanding CfD eligible output and a changing contribution by technology.</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Annual movement</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Recorded CfD eligible generation totals 211.54 TWh from June 2016 to September 2026. The complete year 2025 contributes about 35.84 TWh, up from approximately 31.14 TWh in 2024.</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leaders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supplies roughly 139.85 million MWh across the source period. Biomass conversion contributes about 54.38 million MWh, with smaller contributions from onshore wind and the other technologies.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Monthly perspective</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month by month stacked view shows the rise of offshore wind in the supported generation mix. Variation within a year can reflect both resource conditions and changes in the active contract portfolio.</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Interpretation boundary</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These are eligible units published in LCCC settlement data rather than all renewable generation in Britain. Calendar 2016 and 2026 are partial years, so they are not comparable with complete years.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05 - Annual signed CfD payments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5.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06 - Monthly payment flows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6.png"/>
          <p:cNvPicPr>
            <a:picLocks noChangeAspect="1"/>
          </p:cNvPicPr>
          <p:nvPr/>
        </p:nvPicPr>
        <p:blipFill>
          <a:blip r:embed="rId2"/>
          <a:stretch>
            <a:fillRect/>
          </a:stretch>
        </p:blipFill>
        <p:spPr>
          <a:xfrm>
            <a:off x="521207" y="1035636"/>
            <a:ext cx="11146536" cy="4896454"/>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Monthly payment flows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payment analysis retains signed financial flows so that generator repayments remain visible.</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Signed payments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historical source records a net £13.84 billion across the full available period. Focusing on complete years 2017 to 2025 gives approximately £12.16 billion in net CfD payments.</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The 2022 reversal</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In 2022 the annual net payment is around negative £0.346 billion. This is consistent with a two way scheme where generators may repay money when the relevant market reference price is above the strike price.</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differences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and biomass conversion account for much of the absolute payment activity. A technology level view reveals opposing financial contributions that could disappear in a simple annual total.</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Meaning of negative values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Negative net payments should not be called losses without naming the party concerned. The accounting direction and contract rules matter for interpreting settlement flows.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07 - Generation weighted price trends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7.png"/>
          <p:cNvPicPr>
            <a:picLocks noChangeAspect="1"/>
          </p:cNvPicPr>
          <p:nvPr/>
        </p:nvPicPr>
        <p:blipFill>
          <a:blip r:embed="rId2"/>
          <a:stretch>
            <a:fillRect/>
          </a:stretch>
        </p:blipFill>
        <p:spPr>
          <a:xfrm>
            <a:off x="521207" y="1067781"/>
            <a:ext cx="11146536" cy="4832164"/>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08 - Price spread and payment relationship</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8.png"/>
          <p:cNvPicPr>
            <a:picLocks noChangeAspect="1"/>
          </p:cNvPicPr>
          <p:nvPr/>
        </p:nvPicPr>
        <p:blipFill>
          <a:blip r:embed="rId2"/>
          <a:stretch>
            <a:fillRect/>
          </a:stretch>
        </p:blipFill>
        <p:spPr>
          <a:xfrm>
            <a:off x="1751327" y="868680"/>
            <a:ext cx="8686297"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Price spread and payment relationship</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Generation weighted strike and market reference prices help explain variations in signed CfD payments.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Price methodology</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calculate aggregate prices using generation weights. This keeps an eligible MWh from a larger producing unit from being treated equally to a tiny settlement observation.</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Market conditions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weighted market reference price rises above the weighted strike price in 2022. In the annual Tableau view these values are approximately £172.3 and £153.8 per MWh respectively.</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Relationship to payments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8 compares the weighted price spread with monthly signed payments. It is useful for recognising the design of the two way settlement mechanism, not for assigning statistical causality.</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Other influences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Eligible generation volumes, contract specific reference prices, terms and settlement adjustments also affect CfD payments. Market reference price alone does not explain every individual observation.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09 - Estimated avoided GHG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09.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10 - Highest generating CfD units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19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0.png"/>
          <p:cNvPicPr>
            <a:picLocks noChangeAspect="1"/>
          </p:cNvPicPr>
          <p:nvPr/>
        </p:nvPicPr>
        <p:blipFill>
          <a:blip r:embed="rId2"/>
          <a:stretch>
            <a:fillRect/>
          </a:stretch>
        </p:blipFill>
        <p:spPr>
          <a:xfrm>
            <a:off x="1485537" y="868680"/>
            <a:ext cx="921787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Highest generating CfD units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emissions estimates and project rankings show the environmental and operational concentration of supported output.</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Estimated GHG impact</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historical dataset reports approximately 31.31 million tonnes of estimated avoided CO2 equivalent. The figure describes the source methodology and is not a directly measured counterfactual reduction.</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mix</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accounts for around 18.93 million tonnes of the source estimates, followed by biomass conversion at around 10.16 million tonnes. Other categories contribute smaller shares.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Project scale</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project ranking displays the twelve units with the greatest eligible historical generation. It helps identify concentration and the role of larger assets in aggregate settlement figures.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Interpretation boundary</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More generation can be associated with a larger emissions estimate, but the implied displacement factor and baseline affect results. The ranking is also cumulative, favouring projects present for longer.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11 - Contract counts by portfolio status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1.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12 - Contract capacity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2.png"/>
          <p:cNvPicPr>
            <a:picLocks noChangeAspect="1"/>
          </p:cNvPicPr>
          <p:nvPr/>
        </p:nvPicPr>
        <p:blipFill>
          <a:blip r:embed="rId2"/>
          <a:stretch>
            <a:fillRect/>
          </a:stretch>
        </p:blipFill>
        <p:spPr>
          <a:xfrm>
            <a:off x="640440" y="868680"/>
            <a:ext cx="10908070"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Contract capacity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current contract portfolio needs to be read as a snapshot rather than a historical generation series.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Portfolio size</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source contains 610 contract records with a summed published maximum capacity of around 55.48 GW when all statuses are included.</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Capacity composition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is the largest capacity category at about 31.35 GW. Solar PV has around 12.01 GW, with onshore wind and other technologies making up the remainder.</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Dashboard distinction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portfolio KPI uses about 49.78 GW after excluding terminated contracts. The full EDA chart includes every status, explaining why the two totals are not identical.</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capacity means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An awarded or non terminated contract is not proof that a plant is operating. MW capacity does not translate into MWh generation without actual output and a time period.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13 - Awarded capacity by auction round</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3.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14 - Auction strike prices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4.png"/>
          <p:cNvPicPr>
            <a:picLocks noChangeAspect="1"/>
          </p:cNvPicPr>
          <p:nvPr/>
        </p:nvPicPr>
        <p:blipFill>
          <a:blip r:embed="rId2"/>
          <a:stretch>
            <a:fillRect/>
          </a:stretch>
        </p:blipFill>
        <p:spPr>
          <a:xfrm>
            <a:off x="1206035" y="868680"/>
            <a:ext cx="9776880"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Auction strike prices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Auction outcomes describe awarded capacity and published strike prices, but not realised plant operation.</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Awarded scale</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auction source has 570 award rows and around 50.07 GW of reported awarded capacity. This is a separate reporting perspective from the current contract portfolio.</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Round comparison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13 groups awards by allocation round. This shows changes in the published award pipeline, not the year in which capacity becomes available to the grid.</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Strike price spread</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14 compares published award strike prices by technology. Differences include technology type, award timing and the price base used for each contract.</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Comparability warning</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Raw published strike prices across rounds are not automatically inflation adjusted. The Tableau round averages are descriptive means of project awards, not capacity weighted or real terms price comparisons.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15 - Financial year price benchmarks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5.png"/>
          <p:cNvPicPr>
            <a:picLocks noChangeAspect="1"/>
          </p:cNvPicPr>
          <p:nvPr/>
        </p:nvPicPr>
        <p:blipFill>
          <a:blip r:embed="rId2"/>
          <a:stretch>
            <a:fillRect/>
          </a:stretch>
        </p:blipFill>
        <p:spPr>
          <a:xfrm>
            <a:off x="521207" y="911930"/>
            <a:ext cx="11146536" cy="5143866"/>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16 - Forecast reference prices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6.png"/>
          <p:cNvPicPr>
            <a:picLocks noChangeAspect="1"/>
          </p:cNvPicPr>
          <p:nvPr/>
        </p:nvPicPr>
        <p:blipFill>
          <a:blip r:embed="rId2"/>
          <a:stretch>
            <a:fillRect/>
          </a:stretch>
        </p:blipFill>
        <p:spPr>
          <a:xfrm>
            <a:off x="521207" y="1081593"/>
            <a:ext cx="11146536" cy="4804541"/>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Forecast reference prices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29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Forward prices are reported at defined forecast windows and cannot be presented as historical market observations.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Financial year view</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15 compares descriptive medians of technology and connection level weighted strike prices with published DESNZ wholesale price forecasts. It does not reconstruct a portfolio wide weighted average.</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Determination periods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16 follows forecast reference prices within one selected determination window. The source has several windows, so labels are retained to prevent mixing different release assumptions.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behaviour</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Baseload benchmark prices can be relatively steady within a seasonal period, while intermittent reference price series vary over forecast delivery dates.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Interpretation boundary</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These are forward estimates. Prices and future payment requirements can change as market expectations, policy assumptions and the contract population evolve.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17 - Initial and latest daily payment forecasts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7.png"/>
          <p:cNvPicPr>
            <a:picLocks noChangeAspect="1"/>
          </p:cNvPicPr>
          <p:nvPr/>
        </p:nvPicPr>
        <p:blipFill>
          <a:blip r:embed="rId2"/>
          <a:stretch>
            <a:fillRect/>
          </a:stretch>
        </p:blipFill>
        <p:spPr>
          <a:xfrm>
            <a:off x="521207" y="1181492"/>
            <a:ext cx="11146536" cy="4604742"/>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Figure 18 - Daily forecast revision distribution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gure-18.png"/>
          <p:cNvPicPr>
            <a:picLocks noChangeAspect="1"/>
          </p:cNvPicPr>
          <p:nvPr/>
        </p:nvPicPr>
        <p:blipFill>
          <a:blip r:embed="rId2"/>
          <a:stretch>
            <a:fillRect/>
          </a:stretch>
        </p:blipFill>
        <p:spPr>
          <a:xfrm>
            <a:off x="521207" y="878753"/>
            <a:ext cx="11146536" cy="5210220"/>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LCCC open data. The visualisation is taken directly from the executed Python notebook.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Notebook Analysis - Daily forecast revision distribution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Matched forecast releases point to a substantial downward revision in expected CfD payments over six months.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Matched comparison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Initial and latest daily payment forecasts exist together for 182 dates from October 2026 through March 2027. Comparisons use only this overlapping horizon.</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Revision size</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paired forecast totals are approximately £617.39 million initially and £244.17 million in the latest version. The difference is negative £373.22 million, or about a 60.45 percent reduction.</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Day level distribution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Figure 18 displays negative revisions across the matched dates, with a median absolute daily change close to £1.97 million. The histogram shows how concentrated these revisions are.</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Critical limitation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actual payments field in the in period source is empty. These are revisions to forecasts, not measured forecast errors, realised savings or a loss to a named party.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Tableau export and validation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PYTHON NOTEBOOK</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Six inputs were transformed into one long format Tableau table containing 47,361 rows and 26 metrics, with explicit reporting groups.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long format</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original CSV files describe different things and different dates. Keeping one metric per reporting observation avoids multiplying values through inappropriate joins and lets Tableau select what is being measured.</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Common fields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Each record carries a reporting group, metric, value, unit, date or reporting period, and relevant dimensions such as technology, project, auction and contract status. Not every dimension applies to every source.</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Aggregation rules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Generation and payments can be summed inside well defined historical groups. Prices require averages or properly weighted calculations. Forecasts and auction awards should not be combined with historical unit records in a single total.</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Reconciliation checks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export was checked against the original CSVs. Generation, historical net payments, estimated emissions, total portfolio capacity and awarded auction capacity reconciled, preserving the source totals.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Tableau worksheets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39496" y="960120"/>
            <a:ext cx="2926080" cy="5175504"/>
          </a:xfrm>
          <a:prstGeom prst="roundRect">
            <a:avLst>
              <a:gd name="adj" fmla="val 12000"/>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41832" y="1600200"/>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98448" y="2048256"/>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655064" y="2496312"/>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3675887"/>
            <a:ext cx="2267712" cy="384048"/>
          </a:xfrm>
          <a:prstGeom prst="rect">
            <a:avLst/>
          </a:prstGeom>
          <a:noFill/>
        </p:spPr>
        <p:txBody>
          <a:bodyPr wrap="square" lIns="27432" tIns="27432" rIns="27432" bIns="27432" anchor="t">
            <a:spAutoFit/>
          </a:bodyPr>
          <a:lstStyle/>
          <a:p>
            <a:pPr algn="ctr">
              <a:lnSpc>
                <a:spcPct val="112000"/>
              </a:lnSpc>
              <a:spcBef>
                <a:spcPts val="0"/>
              </a:spcBef>
              <a:spcAft>
                <a:spcPts val="0"/>
              </a:spcAft>
            </a:pPr>
            <a:r>
              <a:rPr sz="1400" b="1" i="0">
                <a:solidFill>
                  <a:srgbClr val="FFFFFF"/>
                </a:solidFill>
                <a:latin typeface="Aptos"/>
              </a:rPr>
              <a:t>UK  CfD</a:t>
            </a:r>
          </a:p>
        </p:txBody>
      </p:sp>
      <p:sp>
        <p:nvSpPr>
          <p:cNvPr id="17" name="TextBox 16"/>
          <p:cNvSpPr txBox="1"/>
          <p:nvPr/>
        </p:nvSpPr>
        <p:spPr>
          <a:xfrm>
            <a:off x="731520" y="4187952"/>
            <a:ext cx="2505456" cy="365760"/>
          </a:xfrm>
          <a:prstGeom prst="rect">
            <a:avLst/>
          </a:prstGeom>
          <a:noFill/>
        </p:spPr>
        <p:txBody>
          <a:bodyPr wrap="square" lIns="27432" tIns="27432" rIns="27432" bIns="27432" anchor="t">
            <a:spAutoFit/>
          </a:bodyPr>
          <a:lstStyle/>
          <a:p>
            <a:pPr algn="ctr">
              <a:lnSpc>
                <a:spcPct val="112000"/>
              </a:lnSpc>
              <a:spcBef>
                <a:spcPts val="0"/>
              </a:spcBef>
              <a:spcAft>
                <a:spcPts val="0"/>
              </a:spcAft>
            </a:pPr>
            <a:r>
              <a:rPr sz="1300" b="0" i="0">
                <a:solidFill>
                  <a:srgbClr val="FFFFFF"/>
                </a:solidFill>
                <a:latin typeface="Aptos"/>
              </a:rPr>
              <a:t>LCCC open data</a:t>
            </a:r>
          </a:p>
        </p:txBody>
      </p:sp>
      <p:sp>
        <p:nvSpPr>
          <p:cNvPr id="18" name="TextBox 17"/>
          <p:cNvSpPr txBox="1"/>
          <p:nvPr/>
        </p:nvSpPr>
        <p:spPr>
          <a:xfrm>
            <a:off x="3931920" y="1088136"/>
            <a:ext cx="7644383" cy="97840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17 worksheet views with a dedicated explanation after every screenshot</a:t>
            </a:r>
          </a:p>
        </p:txBody>
      </p:sp>
      <p:sp>
        <p:nvSpPr>
          <p:cNvPr id="19" name="Rectangle 18"/>
          <p:cNvSpPr/>
          <p:nvPr/>
        </p:nvSpPr>
        <p:spPr>
          <a:xfrm>
            <a:off x="3968496" y="2240280"/>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70248" y="2295144"/>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Sheets 01 to 07 summarise renewable generation, emissions and the contract portfolio.</a:t>
            </a:r>
          </a:p>
        </p:txBody>
      </p:sp>
      <p:sp>
        <p:nvSpPr>
          <p:cNvPr id="21" name="Rectangle 20"/>
          <p:cNvSpPr/>
          <p:nvPr/>
        </p:nvSpPr>
        <p:spPr>
          <a:xfrm>
            <a:off x="3968496" y="3127248"/>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70248" y="3182112"/>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Sheets 08 to 12 examine the two way CfD payment mechanism and auction pricing.</a:t>
            </a:r>
          </a:p>
        </p:txBody>
      </p:sp>
      <p:sp>
        <p:nvSpPr>
          <p:cNvPr id="23" name="Rectangle 22"/>
          <p:cNvSpPr/>
          <p:nvPr/>
        </p:nvSpPr>
        <p:spPr>
          <a:xfrm>
            <a:off x="3968496" y="4014216"/>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4069080"/>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Sheets 13 to 17 explore matched payment forecasts, revisions and forward reference prices.</a:t>
            </a:r>
          </a:p>
        </p:txBody>
      </p:sp>
      <p:sp>
        <p:nvSpPr>
          <p:cNvPr id="25" name="Rectangle 24"/>
          <p:cNvSpPr/>
          <p:nvPr/>
        </p:nvSpPr>
        <p:spPr>
          <a:xfrm>
            <a:off x="3968496" y="4901184"/>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70248" y="4956048"/>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Each view uses a metric selection appropriate to its source and aggregation method.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01 - Annual Electricity Generation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1 - Annual Generation Trend.png"/>
          <p:cNvPicPr>
            <a:picLocks noChangeAspect="1"/>
          </p:cNvPicPr>
          <p:nvPr/>
        </p:nvPicPr>
        <p:blipFill>
          <a:blip r:embed="rId2"/>
          <a:stretch>
            <a:fillRect/>
          </a:stretch>
        </p:blipFill>
        <p:spPr>
          <a:xfrm>
            <a:off x="2349093" y="868680"/>
            <a:ext cx="749076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01 -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Historical CfD eligible electricity generation increases markedly across the complete calendar years, reaching 35.84 TWh in 2025.</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the worksheet measures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summed historical CfD eligible generation by settlement year and converted MWh to TWh. The time series is restricted to the historical generation metric instead of mixing data from the contract or forecast records.</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Observed pattern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Annual output rose to approximately 22.01 TWh in 2020, remained near 20 to 22 TWh through 2023 and increased again to 31.14 TWh in 2024 and 35.84 TWh in 2025.</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it matters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pattern suggests increasing generation from projects supported through the CfD scheme. It provides the baseline for examining technology mix, payment flows and estimated environmental outcomes.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Comparison note</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chart includes only one day from June 2016 and ends in September 2026. Those are partial calendar years, so the lower 2026 total cannot be described as a confirmed full year decline.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02 - Generation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2 - Generation by Technology.png"/>
          <p:cNvPicPr>
            <a:picLocks noChangeAspect="1"/>
          </p:cNvPicPr>
          <p:nvPr/>
        </p:nvPicPr>
        <p:blipFill>
          <a:blip r:embed="rId2"/>
          <a:stretch>
            <a:fillRect/>
          </a:stretch>
        </p:blipFill>
        <p:spPr>
          <a:xfrm>
            <a:off x="2238538" y="868680"/>
            <a:ext cx="771187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02 -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becomes increasingly prominent within the CfD supported generation mix from 2017 to 2025.</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Construction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stacked yearly generation totals by renewable technology. The comparison uses complete years and applies the same historical unit month generation metric as the overall annual chart.</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pattern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Biomass conversion has a large share in the earlier years. Offshore wind grows over the period and supplies most of the total in 2024 and 2025. Onshore wind and other technologies form smaller sections.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Analytical value</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Breaking the aggregate total into technologies shows what underlies the growth in annual generation. It also gives a clearer context for differences in contracted strike prices and net CfD payments.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Interpretation note</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These categories describe CfD eligible electricity in the source rather than every renewable generator in Britain. Changes can reflect new support contracts as well as variation at projects already reporting.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03 - Technology Ranking (2025)</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39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3 - Generation by Technology (2025).png"/>
          <p:cNvPicPr>
            <a:picLocks noChangeAspect="1"/>
          </p:cNvPicPr>
          <p:nvPr/>
        </p:nvPicPr>
        <p:blipFill>
          <a:blip r:embed="rId2"/>
          <a:stretch>
            <a:fillRect/>
          </a:stretch>
        </p:blipFill>
        <p:spPr>
          <a:xfrm>
            <a:off x="2443557" y="868680"/>
            <a:ext cx="730183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03 -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supplied 25.36 TWh in 2025, representing about 71 percent of the displayed CfD eligible generation.</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Chart definition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ranked technologies by their 2025 generation in TWh and used horizontal bars so the complete category names and numeric labels remain readable.</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Largest contributors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generated 25.36 TWh. Biomass conversion followed at 7.31 TWh. Onshore wind provided 1.52 TWh and dedicated biomass approximately 1.28 TWh.</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Smaller contributors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Solar PV provided 0.29 TWh and energy from waste 0.08 TWh. Altogether the six categories account for around 35.84 TWh for the calendar year.</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How I use this result</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 technology ranking helps prioritise which sources matter most when explaining total generation and payment movements. Small generation does not necessarily mean a technology has little long term pipeline capacity.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04 - Avoided GHG Emissions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4 - Estimated Avoided Emissions.png"/>
          <p:cNvPicPr>
            <a:picLocks noChangeAspect="1"/>
          </p:cNvPicPr>
          <p:nvPr/>
        </p:nvPicPr>
        <p:blipFill>
          <a:blip r:embed="rId2"/>
          <a:stretch>
            <a:fillRect/>
          </a:stretch>
        </p:blipFill>
        <p:spPr>
          <a:xfrm>
            <a:off x="2443557" y="868680"/>
            <a:ext cx="730183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04 -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Estimated avoided greenhouse gas emissions vary by year, with the highest shown annual level in 2020.</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Measure and units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chart sums LCCC reported estimated avoided GHG by settlement year and technology, converted from tonnes of CO2 equivalent to million tonnes. It covers 2017 through 2025.</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Observed outcome</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Estimated annual avoided emissions reach approximately 4.36 MtCO2e in 2020. The total is about 3.30 MtCO2e in 2024 and 3.80 MtCO2e in 2025.</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contribution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and biomass conversion account for most of the displayed estimated emissions avoidance. The changing mix mirrors their substantial shares of CfD supported output.</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Interpretation boundary</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figures are the source provider estimates, not directly measured carbon reductions. The calculation depends on assumptions about which alternative generation would otherwise have supplied electricity.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05 - Total Generation KPI</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5 - KPI Total Generation.png"/>
          <p:cNvPicPr>
            <a:picLocks noChangeAspect="1"/>
          </p:cNvPicPr>
          <p:nvPr/>
        </p:nvPicPr>
        <p:blipFill>
          <a:blip r:embed="rId2"/>
          <a:stretch>
            <a:fillRect/>
          </a:stretch>
        </p:blipFill>
        <p:spPr>
          <a:xfrm>
            <a:off x="2495082" y="868680"/>
            <a:ext cx="719878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05 -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historical data records approximately 211.54 TWh of CfD supported electricity generation through September 2026.</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the KPI captures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headline value sums eligible historical generation from June 2016 through September 2026 and displays the result in TWh. It is an accumulated output figure.</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Reconciliation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notebook source check reports 211,542,758.72 MWh, equivalent to 211.54 TWh. The Tableau worksheet displays the same total rounded to a readable value.</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Where the metric helps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KPI provides an immediate measure of historical scheme supported generation and serves as the lead statistic in the Energy Portfolio Overview dashboard.</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Important distinction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Accumulated generation is an energy quantity, whereas the separate capacity KPI is in GW. The values cannot be compared directly without a time period and operational assumptions.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06 - Avoided Emissions KPI</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6 - KPI Avoided Emissions.png"/>
          <p:cNvPicPr>
            <a:picLocks noChangeAspect="1"/>
          </p:cNvPicPr>
          <p:nvPr/>
        </p:nvPicPr>
        <p:blipFill>
          <a:blip r:embed="rId2"/>
          <a:stretch>
            <a:fillRect/>
          </a:stretch>
        </p:blipFill>
        <p:spPr>
          <a:xfrm>
            <a:off x="2349093" y="868680"/>
            <a:ext cx="749076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06 -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source reports approximately 31.31 MtCO2e of estimated avoided greenhouse gas emissions during the historical period.</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the KPI captures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measure sums source reported avoided GHG estimates and expresses the result in million tonnes of CO2 equivalent, using the available historical settlement records.</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Reconciliation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Python check reports 31,307,245.23 tonnes of estimated avoided CO2 equivalent, agreeing with the Tableau total of 31.31 MtCO2e after rounding.</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Where it appears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indicator sits alongside generation and contract capacity on the Portfolio Overview dashboard. It adds an environmental perspective to the physical output measures.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Limitations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It is an estimate based on source methodology and assumptions. I do not describe it as an independently measured reduction or infer a causal impact without a defined alternative electricity system.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07 - Contract Capacity KPI</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7 - KPI Contract Capacity.png"/>
          <p:cNvPicPr>
            <a:picLocks noChangeAspect="1"/>
          </p:cNvPicPr>
          <p:nvPr/>
        </p:nvPicPr>
        <p:blipFill>
          <a:blip r:embed="rId2"/>
          <a:stretch>
            <a:fillRect/>
          </a:stretch>
        </p:blipFill>
        <p:spPr>
          <a:xfrm>
            <a:off x="2343847" y="868680"/>
            <a:ext cx="750125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07 -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non terminated CfD contract portfolio has approximately 49.78 GW of maximum contracted capacity.</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KPI construction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summed published maximum contract capacity in MW, divided by 1,000 to express GW and excluded contract records whose published status was Terminated.</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Comparison with source</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full contract status snapshot totals approximately 55.48 GW across all statuses. The smaller non terminated KPI deliberately applies a different status definition.</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Business interpretation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is a useful measure of the contracted pipeline and present portfolio. It provides a planning view alongside historical electricity generation.</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Important distinction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Non terminated is not the same as generating today. Some contracts can still be under development or awaiting their start date. The KPI is not a measure of installed operational generating capacity.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08 - Annual Net CfD Payments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49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8 - Annual Net CfD Payments.png"/>
          <p:cNvPicPr>
            <a:picLocks noChangeAspect="1"/>
          </p:cNvPicPr>
          <p:nvPr/>
        </p:nvPicPr>
        <p:blipFill>
          <a:blip r:embed="rId2"/>
          <a:stretch>
            <a:fillRect/>
          </a:stretch>
        </p:blipFill>
        <p:spPr>
          <a:xfrm>
            <a:off x="2349093" y="868680"/>
            <a:ext cx="749076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08 -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Net CfD payments are highly sensitive to market conditions and turn negative in 2022.</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Measure definition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worksheet sums signed historical CfD payments to generators for complete years 2017 through 2025, expressed in billions of pounds. Negative settlement flows are retained.</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Key years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series shows about £2.30bn in 2020, negative £0.346bn in 2022, £2.36bn in 2024 and £2.64bn in 2025. Across the displayed nine years the net total is about £12.16bn.</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Economic mechanism</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Contracts for Difference can produce positive or negative payment flows depending on the relationship between the applicable strike and market reference prices.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Reading the numbers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 signed net total is not the same as gross financial support. Negative payments are part of the CfD design and should not automatically be labelled financial losses.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09 - Payments by Technology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09 - Net Payments by Technology.png"/>
          <p:cNvPicPr>
            <a:picLocks noChangeAspect="1"/>
          </p:cNvPicPr>
          <p:nvPr/>
        </p:nvPicPr>
        <p:blipFill>
          <a:blip r:embed="rId2"/>
          <a:stretch>
            <a:fillRect/>
          </a:stretch>
        </p:blipFill>
        <p:spPr>
          <a:xfrm>
            <a:off x="2238538" y="868680"/>
            <a:ext cx="771187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09 -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Technology level payment flows reveal which sources drive changes in signed net CfD payments.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Chart definition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split annual net settlement payments by technology while retaining negative values. Tableau stacks positive and negative contributions on opposite sides of the zero line.</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Large contributors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contributes about £2.019bn of the total in 2025, while biomass conversion contributes roughly £0.433bn. Their combined effect dominates the visible positive stack.</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The year 2022</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Several technology contributions fall below zero in 2022, including offshore and onshore wind. The signed breakdown helps explain why the overall annual result is negative.</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it matters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Technology shares of settlement payments need not match generation shares. Contract strike prices, output and the relevant market reference index affect the payment per unit of eligible electricity.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10 - Strike vs Reference Prices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0 - Strike vs Reference Prices.png"/>
          <p:cNvPicPr>
            <a:picLocks noChangeAspect="1"/>
          </p:cNvPicPr>
          <p:nvPr/>
        </p:nvPicPr>
        <p:blipFill>
          <a:blip r:embed="rId2"/>
          <a:stretch>
            <a:fillRect/>
          </a:stretch>
        </p:blipFill>
        <p:spPr>
          <a:xfrm>
            <a:off x="2185062" y="868680"/>
            <a:ext cx="7818827"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10 -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In 2022 the generation weighted reference price exceeds the generation weighted strike price, providing context for net repayments.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Calculated measures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divided generation multiplied by each unit price by the total eligible generation, separately for strike and reference prices. This keeps weights consistent with reported generation.</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2022 comparison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displayed weighted strike price is approximately £153.8 per MWh and the reference price about £172.3 per MWh. The difference, strike minus reference, is negative £18.5 per MWh.</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Additional context</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By 2023 the reference series falls toward £94.9 per MWh while the strike series remains around £162.0 per MWh. Positive CfD payment requirements return in the payment chart.</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Scope of interpretation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annual weighted difference summarises the eligible portfolio in the data. Real settlement payments also depend on contract rules, appropriate price indexes and monthly or daily eligible output.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11 - Net Payments KPI</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1 - KPI Total Net Payments.png"/>
          <p:cNvPicPr>
            <a:picLocks noChangeAspect="1"/>
          </p:cNvPicPr>
          <p:nvPr/>
        </p:nvPicPr>
        <p:blipFill>
          <a:blip r:embed="rId2"/>
          <a:stretch>
            <a:fillRect/>
          </a:stretch>
        </p:blipFill>
        <p:spPr>
          <a:xfrm>
            <a:off x="1618034" y="868680"/>
            <a:ext cx="8952882"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11 -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Net CfD payments for the complete years 2017 through 2025 total approximately £12.16bn.</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Definition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KPI adds the signed yearly payments in the historical settlement data after limiting the reporting period to nine complete calendar years.</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Reconciliation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value corresponds to the annual payments chart and preserves the negative net result in 2022 rather than adding only positive amounts.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I selected this horizon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source begins during 2016 and ends during 2026. Restricting the financial headline to 2017 through 2025 avoids presenting two partial years as directly comparable annual outcomes.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Financial interpretation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is an aggregate net amount paid to generators, not gross payments, expenditure for the entire policy, or a fixed future liability. Signed payment conventions remain essential to the reading.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12 - Auction Strike Prices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2 - Auction Strike Price Comparison.png"/>
          <p:cNvPicPr>
            <a:picLocks noChangeAspect="1"/>
          </p:cNvPicPr>
          <p:nvPr/>
        </p:nvPicPr>
        <p:blipFill>
          <a:blip r:embed="rId2"/>
          <a:stretch>
            <a:fillRect/>
          </a:stretch>
        </p:blipFill>
        <p:spPr>
          <a:xfrm>
            <a:off x="2443557" y="868680"/>
            <a:ext cx="730183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12 -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Published average auction strike prices differ substantially across allocation rounds AR1 to AR7.</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Statistic used</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computed an unweighted arithmetic mean of reported award strike prices for each allocation round. Every published project award contributes equally to the mean.</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Values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AR1 has a mean of £85.75 per MWh, AR3 reaches £40.47 per MWh and AR7 is £72.97 per MWh. These are descriptive differences, not adjusted measures of equivalent technology costs.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it matters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Auction outcomes provide context on how new CfD contracts are awarded and how published pricing differs across auction rounds and technology mixes.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Comparison caution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Published price bases and the mix of technologies can change between auction rounds. A fair real terms comparison would require inflation rebasing and probably technology and capacity adjustments.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13 - Daily Payment Forecasts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59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3 - Initial vs Latest CfD Forecast.png"/>
          <p:cNvPicPr>
            <a:picLocks noChangeAspect="1"/>
          </p:cNvPicPr>
          <p:nvPr/>
        </p:nvPicPr>
        <p:blipFill>
          <a:blip r:embed="rId2"/>
          <a:stretch>
            <a:fillRect/>
          </a:stretch>
        </p:blipFill>
        <p:spPr>
          <a:xfrm>
            <a:off x="2349093" y="868680"/>
            <a:ext cx="749076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13 -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Latest payment forecasts are lower than initial forecasts on every overlapping settlement date in the selected six month window.</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Source and period</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two series come from LCCC in period tracking, restricted to the 182 dates where both initial and latest payment forecasts exist from October 2026 to March 2027.</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Expected payments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initial forecast totals approximately £617.39m across paired dates. The latest forecast totals around £244.17m. Daily estimates show substantial variation over the window.</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Pattern in the chart</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Both versions fluctuate, including periodic short term peaks. The latest series remains below the initial series in the compared dates, revealing a consistent downward reassessment.</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this does not show</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file has no populated actual payment values. This comparison measures changes in forecasts, not realised support costs or a forecast accuracy score.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14 - Monthly Forecast Revisions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4 - Monthly Forecast Variance.png"/>
          <p:cNvPicPr>
            <a:picLocks noChangeAspect="1"/>
          </p:cNvPicPr>
          <p:nvPr/>
        </p:nvPicPr>
        <p:blipFill>
          <a:blip r:embed="rId2"/>
          <a:stretch>
            <a:fillRect/>
          </a:stretch>
        </p:blipFill>
        <p:spPr>
          <a:xfrm>
            <a:off x="2322717" y="868680"/>
            <a:ext cx="7543516"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14 -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All six months show downward net revisions in projected CfD payments, totalling approximately negative £373.22m.</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How it is calculated</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 each month I subtract the sum of initial forecasts from the sum of latest forecasts on matching settlement dates. Negative results mean the expected payment is lower in the latest release.</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Largest revisions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November 2026 has a revision near negative £74.94m, followed by December 2026 near negative £73.57m. February 2027 has the smallest monthly reduction at about negative £49.64m.</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this view helps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 monthly view makes the financial revision easier to interpret than a busy daily line chart. It identifies the periods contributing most to the aggregate £373.22m reassessment.</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Scope of the figure</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is not monthly realised expenditure or a forecast error. All values come from two forward looking forecast snapshots and the result depends on restricting both to identical dates.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15 - Forecast Revision KPI</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5 - KPI Total Forecast Revision.png"/>
          <p:cNvPicPr>
            <a:picLocks noChangeAspect="1"/>
          </p:cNvPicPr>
          <p:nvPr/>
        </p:nvPicPr>
        <p:blipFill>
          <a:blip r:embed="rId2"/>
          <a:stretch>
            <a:fillRect/>
          </a:stretch>
        </p:blipFill>
        <p:spPr>
          <a:xfrm>
            <a:off x="521207" y="937457"/>
            <a:ext cx="11146536" cy="5092813"/>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15 -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Expected CfD payments decrease by about £373.22m from the initial to the latest forecast over the matched period.</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KPI definition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number is the latest payment forecast total minus the initial forecast total for dates from 1 October 2026 to 31 March 2027 where both values exist.</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Relative size</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initial paired forecast is about £617.39m and the latest about £244.17m. This gives a downward change equivalent to approximately 60.45 percent of the initial amount.</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Dashboard contribution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KPI places the most important forecast revision in one clear figure. The daily and monthly charts below it explain how the aggregate change develops across time.</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Interpretation caution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 lower forecast does not prove the amount was saved or lost. The actual payment series is unavailable in the provided tracking source, so the result remains a change in expectations.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16 - Daily Revision Distribution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6 - Daily Forecast Revision Distribution.png"/>
          <p:cNvPicPr>
            <a:picLocks noChangeAspect="1"/>
          </p:cNvPicPr>
          <p:nvPr/>
        </p:nvPicPr>
        <p:blipFill>
          <a:blip r:embed="rId2"/>
          <a:stretch>
            <a:fillRect/>
          </a:stretch>
        </p:blipFill>
        <p:spPr>
          <a:xfrm>
            <a:off x="2349093" y="868680"/>
            <a:ext cx="7490764"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16 -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distribution shows negative forecast revisions on all 182 paired days, concentrated around negative £2m per day.</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Histogram definition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grouped daily latest minus initial payment revisions into bins of £0.25m. The horizontal axis expresses revisions in millions of pounds and the vertical axis counts forecast days.</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Observed distribution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All bars lie below zero. The bin near negative £2.00m contains 60 days and is the modal range. The notebook also reports a median absolute daily revision close to £1.97m.</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the shape adds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 histogram shows whether the total change comes from a few exceptional dates or a broad pattern. Here negative revisions are spread across the entire matched period.</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Limits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bin width affects the apparent concentration. Observations are daily revisions rather than independent accuracy errors, and this graphic cannot establish their economic causes.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17 - Forecast Reference Prices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17 - Forecast Market Reference Prices.png"/>
          <p:cNvPicPr>
            <a:picLocks noChangeAspect="1"/>
          </p:cNvPicPr>
          <p:nvPr/>
        </p:nvPicPr>
        <p:blipFill>
          <a:blip r:embed="rId2"/>
          <a:stretch>
            <a:fillRect/>
          </a:stretch>
        </p:blipFill>
        <p:spPr>
          <a:xfrm>
            <a:off x="2090525" y="868680"/>
            <a:ext cx="8007900"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worksheet created from the consolidated LCCC data export.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Worksheet 17 - Analysis and Findings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WORKSHEETS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Forecast reference prices vary by technology and delivery date, with intermittent series fluctuating more than the baseload benchmark.</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Series plotted</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graph includes forecasts weighted for offshore wind, onshore wind, solar PV and a baseload reference for biomass conversion. Each series is labelled with its relevant forecast price definition.</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Forecast behaviour</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biomass baseload benchmark remains close to £108.65 per MWh in late 2026 and about £111.90 per MWh in early 2027. Intermittent wind and solar prices change much more frequently.</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I learn</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Technology specific price profiles matter because the applicable reference price influences how the CfD settlement amount differs from the contracted strike price.</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Data boundary</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These are estimated future reference prices, not observed prices. The forecast determination context should be retained if a later portal download includes updated or overlapping delivery windows.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Four Tableau dashboards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69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539496" y="960120"/>
            <a:ext cx="2926080" cy="5175504"/>
          </a:xfrm>
          <a:prstGeom prst="roundRect">
            <a:avLst>
              <a:gd name="adj" fmla="val 12000"/>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41832" y="1600200"/>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98448" y="2048256"/>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655064" y="2496312"/>
            <a:ext cx="859536" cy="393192"/>
          </a:xfrm>
          <a:prstGeom prst="roundRect">
            <a:avLst>
              <a:gd name="adj" fmla="val 12000"/>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3675887"/>
            <a:ext cx="2267712" cy="384048"/>
          </a:xfrm>
          <a:prstGeom prst="rect">
            <a:avLst/>
          </a:prstGeom>
          <a:noFill/>
        </p:spPr>
        <p:txBody>
          <a:bodyPr wrap="square" lIns="27432" tIns="27432" rIns="27432" bIns="27432" anchor="t">
            <a:spAutoFit/>
          </a:bodyPr>
          <a:lstStyle/>
          <a:p>
            <a:pPr algn="ctr">
              <a:lnSpc>
                <a:spcPct val="112000"/>
              </a:lnSpc>
              <a:spcBef>
                <a:spcPts val="0"/>
              </a:spcBef>
              <a:spcAft>
                <a:spcPts val="0"/>
              </a:spcAft>
            </a:pPr>
            <a:r>
              <a:rPr sz="1400" b="1" i="0">
                <a:solidFill>
                  <a:srgbClr val="FFFFFF"/>
                </a:solidFill>
                <a:latin typeface="Aptos"/>
              </a:rPr>
              <a:t>UK  CfD</a:t>
            </a:r>
          </a:p>
        </p:txBody>
      </p:sp>
      <p:sp>
        <p:nvSpPr>
          <p:cNvPr id="17" name="TextBox 16"/>
          <p:cNvSpPr txBox="1"/>
          <p:nvPr/>
        </p:nvSpPr>
        <p:spPr>
          <a:xfrm>
            <a:off x="731520" y="4187952"/>
            <a:ext cx="2505456" cy="365760"/>
          </a:xfrm>
          <a:prstGeom prst="rect">
            <a:avLst/>
          </a:prstGeom>
          <a:noFill/>
        </p:spPr>
        <p:txBody>
          <a:bodyPr wrap="square" lIns="27432" tIns="27432" rIns="27432" bIns="27432" anchor="t">
            <a:spAutoFit/>
          </a:bodyPr>
          <a:lstStyle/>
          <a:p>
            <a:pPr algn="ctr">
              <a:lnSpc>
                <a:spcPct val="112000"/>
              </a:lnSpc>
              <a:spcBef>
                <a:spcPts val="0"/>
              </a:spcBef>
              <a:spcAft>
                <a:spcPts val="0"/>
              </a:spcAft>
            </a:pPr>
            <a:r>
              <a:rPr sz="1300" b="0" i="0">
                <a:solidFill>
                  <a:srgbClr val="FFFFFF"/>
                </a:solidFill>
                <a:latin typeface="Aptos"/>
              </a:rPr>
              <a:t>LCCC open data</a:t>
            </a:r>
          </a:p>
        </p:txBody>
      </p:sp>
      <p:sp>
        <p:nvSpPr>
          <p:cNvPr id="18" name="TextBox 17"/>
          <p:cNvSpPr txBox="1"/>
          <p:nvPr/>
        </p:nvSpPr>
        <p:spPr>
          <a:xfrm>
            <a:off x="3931920" y="1088136"/>
            <a:ext cx="7644383" cy="97840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Executive views of generation, technology, finance and forecast risk</a:t>
            </a:r>
          </a:p>
        </p:txBody>
      </p:sp>
      <p:sp>
        <p:nvSpPr>
          <p:cNvPr id="19" name="Rectangle 18"/>
          <p:cNvSpPr/>
          <p:nvPr/>
        </p:nvSpPr>
        <p:spPr>
          <a:xfrm>
            <a:off x="3968496" y="2240280"/>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70248" y="2295144"/>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Dashboard 1 integrates the historical generation and emissions indicators with capacity.</a:t>
            </a:r>
          </a:p>
        </p:txBody>
      </p:sp>
      <p:sp>
        <p:nvSpPr>
          <p:cNvPr id="21" name="Rectangle 20"/>
          <p:cNvSpPr/>
          <p:nvPr/>
        </p:nvSpPr>
        <p:spPr>
          <a:xfrm>
            <a:off x="3968496" y="3127248"/>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70248" y="3182112"/>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Dashboard 2 compares renewable technology production and estimated environmental outcomes.</a:t>
            </a:r>
          </a:p>
        </p:txBody>
      </p:sp>
      <p:sp>
        <p:nvSpPr>
          <p:cNvPr id="23" name="Rectangle 22"/>
          <p:cNvSpPr/>
          <p:nvPr/>
        </p:nvSpPr>
        <p:spPr>
          <a:xfrm>
            <a:off x="3968496" y="4014216"/>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4069080"/>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Dashboard 3 brings together signed CfD payments, price relationships and auction outcomes.</a:t>
            </a:r>
          </a:p>
        </p:txBody>
      </p:sp>
      <p:sp>
        <p:nvSpPr>
          <p:cNvPr id="25" name="Rectangle 24"/>
          <p:cNvSpPr/>
          <p:nvPr/>
        </p:nvSpPr>
        <p:spPr>
          <a:xfrm>
            <a:off x="3968496" y="4901184"/>
            <a:ext cx="91440" cy="61264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70248" y="4956048"/>
            <a:ext cx="7287768" cy="594360"/>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Dashboard 4 examines forecast revisions and expected market reference prices.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1 - Energy Portfolio Overview</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Dashboard 1 - LCCC Energy Portfolio Overview.png"/>
          <p:cNvPicPr>
            <a:picLocks noChangeAspect="1"/>
          </p:cNvPicPr>
          <p:nvPr/>
        </p:nvPicPr>
        <p:blipFill>
          <a:blip r:embed="rId2"/>
          <a:stretch>
            <a:fillRect/>
          </a:stretch>
        </p:blipFill>
        <p:spPr>
          <a:xfrm>
            <a:off x="2070511" y="868680"/>
            <a:ext cx="8047929"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dashboards made from the public LCCC datasets.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1 - Interpretation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opening dashboard brings together 211.54 TWh of CfD eligible generation, 31.31 MtCO2e of estimated avoided emissions and 49.78 GW of non terminated contracted capacity.</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Summary of the portfolio</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three KPI indicators show the scale of electricity supplied through CfD eligible units, the source estimated emissions associated with that output, and the current non terminated contract capacity.</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Trend through 2025</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Historical annual generation reaches about 35.84 TWh in 2025, following a strong rise in 2024. The growth is visible in the line chart without mixing it with project award or forecast data.</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Different metric types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Generation and estimated emissions are accumulated historical totals through September 2026. Capacity is a snapshot of contracts rather than energy generated during that period.</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How to read it</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Use this dashboard as the high level orientation before exploring which technologies generate the electricity and how much settlement support flows to their projects.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2 - Renewable Energy Performance</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72</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Dashboard 2 - Renewable Technology &amp; Environmental Impact.png"/>
          <p:cNvPicPr>
            <a:picLocks noChangeAspect="1"/>
          </p:cNvPicPr>
          <p:nvPr/>
        </p:nvPicPr>
        <p:blipFill>
          <a:blip r:embed="rId2"/>
          <a:stretch>
            <a:fillRect/>
          </a:stretch>
        </p:blipFill>
        <p:spPr>
          <a:xfrm>
            <a:off x="2070511" y="868680"/>
            <a:ext cx="8047929"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dashboards made from the public LCCC datasets.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2 - Interpretation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73</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second dashboard explains the changing generation mix and shows how the source attributes estimated avoided greenhouse gas emissions to technologies.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Changing generation mix</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Annual stacked bars show offshore wind becoming the largest CfD supported source. By 2025 the technology supplies around 25.36 TWh of the 35.84 TWh recorded for the year.</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Detailed 2025 ranking</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Biomass conversion ranks second with 7.31 TWh. Onshore wind, dedicated biomass, solar PV and energy from waste account for much smaller amounts in the displayed historical dataset.</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Environmental view</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estimated avoided emissions chart reaches about 4.36 MtCO2e in 2020 and around 3.80 MtCO2e in 2025. Offshore wind and biomass conversion dominate the reported technology allocation.</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Limits of interpretation</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electricity series covers only CfD eligible output. Avoided greenhouse gases are model based source estimates, and a technology category with low historic generation may still have substantial future contracted capacity.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3 - CfD Financial Analytics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74</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Dashboard 3 LCCC Financial Performance.png"/>
          <p:cNvPicPr>
            <a:picLocks noChangeAspect="1"/>
          </p:cNvPicPr>
          <p:nvPr/>
        </p:nvPicPr>
        <p:blipFill>
          <a:blip r:embed="rId2"/>
          <a:stretch>
            <a:fillRect/>
          </a:stretch>
        </p:blipFill>
        <p:spPr>
          <a:xfrm>
            <a:off x="2070511" y="868680"/>
            <a:ext cx="8047929"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dashboards made from the public LCCC datasets.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3 - Interpretation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75</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financial dashboard connects £12.16bn of net payments in complete years 2017 to 2025 with strike prices, market reference prices and technology contributions.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Payment fluctuations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net annual payment series moves from about £2.30bn in 2020 to negative £0.346bn in 2022 before increasing to approximately £2.64bn in 2025. The signed convention is retained.</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Why 2022 stands out</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In 2022 the generation weighted reference price reaches about £172.3 per MWh versus a strike price near £153.8. This aligns with the scheme requirement for repayments under some conditions.</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Technology and auctions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Offshore wind accounts for a large share of more recent positive payments. Auction strike prices vary from around £40.47 per MWh for AR3 to £85.75 for AR1 as simple award means.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Limitations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Auction averages are not inflation normalised or capacity weighted. Net payments cannot be interpreted as gross support, and weighted annual prices summarise rather than determine every project settlement.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4 - Forecast and Risk Analysis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76</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457200" y="786384"/>
            <a:ext cx="11274552" cy="5431536"/>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LCCC | Forecast &amp; Risk Analysis.png"/>
          <p:cNvPicPr>
            <a:picLocks noChangeAspect="1"/>
          </p:cNvPicPr>
          <p:nvPr/>
        </p:nvPicPr>
        <p:blipFill>
          <a:blip r:embed="rId2"/>
          <a:stretch>
            <a:fillRect/>
          </a:stretch>
        </p:blipFill>
        <p:spPr>
          <a:xfrm>
            <a:off x="2070511" y="868680"/>
            <a:ext cx="8047929" cy="5230368"/>
          </a:xfrm>
          <a:prstGeom prst="rect">
            <a:avLst/>
          </a:prstGeom>
        </p:spPr>
      </p:pic>
      <p:sp>
        <p:nvSpPr>
          <p:cNvPr id="14" name="TextBox 13"/>
          <p:cNvSpPr txBox="1"/>
          <p:nvPr/>
        </p:nvSpPr>
        <p:spPr>
          <a:xfrm>
            <a:off x="630936" y="6254496"/>
            <a:ext cx="10972800"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100" b="0" i="0">
                <a:solidFill>
                  <a:srgbClr val="58695D"/>
                </a:solidFill>
                <a:latin typeface="Aptos"/>
              </a:rPr>
              <a:t>Source: Tableau dashboards made from the public LCCC datasets.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Dashboard 4 - Interpretation</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77</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TABLEAU DASHBOARDS</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final dashboard shows that the latest payment forecast is £373.22m lower than the initial forecast across 182 overlapping days from October 2026 to March 2027.</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Daily comparison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initial forecast totals about £617.39m and the latest approximately £244.17m across matched dates. Both series fluctuate while the updated estimate remains lower each day.</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Monthly revisions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Every month has a downward revision. November and December 2026 have the largest monthly reductions, near £74.94m and £73.57m respectively.</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Distribution and prices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histogram shows all daily revisions below zero, concentrated around negative £2m. Technology specific forward reference price series show substantially greater short term volatility than the baseload benchmark.</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What risk means here</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is a reassessment of expected payments, not realised loss, saving or forecast accuracy. Future values remain conditional on market expectations, settlement assumptions and source updates.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Key conclusions from the project</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78</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CONCLUSION</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combined analysis connects what supported generators produce, how CfD payments respond to prices and why forecast revisions must be interpreted carefully.</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Electricity generation</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historical source records 211.54 TWh of eligible generation through September 2026. Offshore wind is the largest contributor and accounts for about 71 percent of the 2025 total.</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Two way settlement design</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Net payments change substantially with reference market prices relative to contract strike prices. The negative 2022 annual total illustrates that CfD cash flows can reverse.</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Contract pipeline</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snapshot contains around 49.78 GW of non terminated contracted capacity. However, this is not a statement about the operating generation fleet, and it requires status based interpretation.</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Forecast revisions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matched forward payment estimates show a 60.45 percent downward revision across October 2026 to March 2027. This is informative about changing expectations, but not actual payment performance.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Scope and reporting limitations</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79</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CONCLUSION</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I kept the limitations visible because a credible energy analytics project must distinguish observed values, published estimates, contract obligations and forecasts.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Partial periods</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historical source begins during June 2016 and ends during September 2026. Annual comparisons use complete years when possible; partial years are labelled and not treated as full year outcomes.</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Different populations</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Settlement observations, contract statuses and auction awards describe different populations. I do not assume awarded capacity is operating, or that non terminated capacity represents live generation.</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Published estimates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Avoided GHG values depend on the source calculation methodology. Forecast reference prices and payment forecasts can change with later publications. Published strike prices can use different price bases.</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Missing actuals</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in period tracking dataset contains no populated actual CfD payments in this extract. Forecast comparisons are limited to 182 paired dates and cannot produce a defensible accuracy or realised savings calculation.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Project delivery and reproducibility</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80</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CONCLUSION</a:t>
            </a:r>
          </a:p>
        </p:txBody>
      </p:sp>
      <p:sp>
        <p:nvSpPr>
          <p:cNvPr id="12" name="Rounded Rectangle 11"/>
          <p:cNvSpPr/>
          <p:nvPr/>
        </p:nvSpPr>
        <p:spPr>
          <a:xfrm>
            <a:off x="502920" y="859536"/>
            <a:ext cx="11183112" cy="868680"/>
          </a:xfrm>
          <a:prstGeom prst="roundRect">
            <a:avLst>
              <a:gd name="adj" fmla="val 12000"/>
            </a:avLst>
          </a:prstGeom>
          <a:solidFill>
            <a:srgbClr val="E8F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859536"/>
            <a:ext cx="82296" cy="868680"/>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960120"/>
            <a:ext cx="1389888" cy="21031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MAIN FINDING</a:t>
            </a:r>
          </a:p>
        </p:txBody>
      </p:sp>
      <p:sp>
        <p:nvSpPr>
          <p:cNvPr id="15" name="TextBox 14"/>
          <p:cNvSpPr txBox="1"/>
          <p:nvPr/>
        </p:nvSpPr>
        <p:spPr>
          <a:xfrm>
            <a:off x="2039112" y="932688"/>
            <a:ext cx="9354312" cy="621792"/>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final work combines a documented Python analysis with a checked single CSV and four Tableau dashboards.</a:t>
            </a:r>
          </a:p>
        </p:txBody>
      </p:sp>
      <p:sp>
        <p:nvSpPr>
          <p:cNvPr id="16" name="Rounded Rectangle 15"/>
          <p:cNvSpPr/>
          <p:nvPr/>
        </p:nvSpPr>
        <p:spPr>
          <a:xfrm>
            <a:off x="502920"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Notebook</a:t>
            </a:r>
          </a:p>
        </p:txBody>
      </p:sp>
      <p:sp>
        <p:nvSpPr>
          <p:cNvPr id="19" name="TextBox 18"/>
          <p:cNvSpPr txBox="1"/>
          <p:nvPr/>
        </p:nvSpPr>
        <p:spPr>
          <a:xfrm>
            <a:off x="694944"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executed Jupyter Notebook loads raw data from data/raw, runs quality checks, visualises the six sources and provides written interpretation directly alongside the analysis code.</a:t>
            </a:r>
          </a:p>
        </p:txBody>
      </p:sp>
      <p:sp>
        <p:nvSpPr>
          <p:cNvPr id="20" name="Rounded Rectangle 19"/>
          <p:cNvSpPr/>
          <p:nvPr/>
        </p:nvSpPr>
        <p:spPr>
          <a:xfrm>
            <a:off x="6227064" y="1947672"/>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27064" y="1947672"/>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09397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Tableau dataset</a:t>
            </a:r>
          </a:p>
        </p:txBody>
      </p:sp>
      <p:sp>
        <p:nvSpPr>
          <p:cNvPr id="23" name="TextBox 22"/>
          <p:cNvSpPr txBox="1"/>
          <p:nvPr/>
        </p:nvSpPr>
        <p:spPr>
          <a:xfrm>
            <a:off x="6419088" y="243230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 consolidated CSV contains 47,361 rows and 26 metrics. Reporting groups and units remain explicit so that renewable generation, settlement payments, auction awards and forecasts can be selected safely.</a:t>
            </a:r>
          </a:p>
        </p:txBody>
      </p:sp>
      <p:sp>
        <p:nvSpPr>
          <p:cNvPr id="24" name="Rounded Rectangle 23"/>
          <p:cNvSpPr/>
          <p:nvPr/>
        </p:nvSpPr>
        <p:spPr>
          <a:xfrm>
            <a:off x="502920"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Visual outputs</a:t>
            </a:r>
          </a:p>
        </p:txBody>
      </p:sp>
      <p:sp>
        <p:nvSpPr>
          <p:cNvPr id="27" name="TextBox 26"/>
          <p:cNvSpPr txBox="1"/>
          <p:nvPr/>
        </p:nvSpPr>
        <p:spPr>
          <a:xfrm>
            <a:off x="694944"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There are 18 notebook figures, 17 Tableau worksheets and four assembled dashboards. Screenshot pairs in this presentation preserve the original visual results and describe their meaning.</a:t>
            </a:r>
          </a:p>
        </p:txBody>
      </p:sp>
      <p:sp>
        <p:nvSpPr>
          <p:cNvPr id="28" name="Rounded Rectangle 27"/>
          <p:cNvSpPr/>
          <p:nvPr/>
        </p:nvSpPr>
        <p:spPr>
          <a:xfrm>
            <a:off x="6227064" y="4050791"/>
            <a:ext cx="5458968" cy="1856231"/>
          </a:xfrm>
          <a:prstGeom prst="roundRect">
            <a:avLst>
              <a:gd name="adj" fmla="val 12000"/>
            </a:avLst>
          </a:prstGeom>
          <a:solidFill>
            <a:srgbClr val="FFFFFF"/>
          </a:solidFill>
          <a:ln w="8255">
            <a:solidFill>
              <a:srgbClr val="D3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27064" y="4050791"/>
            <a:ext cx="73152" cy="1856231"/>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97096"/>
            <a:ext cx="5029200" cy="24688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Independent project</a:t>
            </a:r>
          </a:p>
        </p:txBody>
      </p:sp>
      <p:sp>
        <p:nvSpPr>
          <p:cNvPr id="31" name="TextBox 30"/>
          <p:cNvSpPr txBox="1"/>
          <p:nvPr/>
        </p:nvSpPr>
        <p:spPr>
          <a:xfrm>
            <a:off x="6419088" y="4535424"/>
            <a:ext cx="4983480" cy="12527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This portfolio study uses publicly available LCCC data. It is not an internal report for LCCC, and the findings should be reviewed against current published definitions before external decisions are made.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9FC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03504"/>
          </a:xfrm>
          <a:prstGeom prst="rect">
            <a:avLst/>
          </a:prstGeom>
          <a:solidFill>
            <a:srgbClr val="154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035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173736"/>
            <a:ext cx="9784080" cy="31089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FFFFFF"/>
                </a:solidFill>
                <a:latin typeface="Aptos"/>
              </a:rPr>
              <a:t>Sources and project material</a:t>
            </a:r>
          </a:p>
        </p:txBody>
      </p:sp>
      <p:sp>
        <p:nvSpPr>
          <p:cNvPr id="5" name="Rectangle 4"/>
          <p:cNvSpPr/>
          <p:nvPr/>
        </p:nvSpPr>
        <p:spPr>
          <a:xfrm>
            <a:off x="10597896" y="17373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53928" y="26517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09960" y="356616"/>
            <a:ext cx="292608" cy="146304"/>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12296" y="173736"/>
            <a:ext cx="393192" cy="292608"/>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300" b="0" i="0">
                <a:solidFill>
                  <a:srgbClr val="FFFFFF"/>
                </a:solidFill>
                <a:latin typeface="Aptos"/>
              </a:rPr>
              <a:t>81</a:t>
            </a:r>
          </a:p>
        </p:txBody>
      </p:sp>
      <p:sp>
        <p:nvSpPr>
          <p:cNvPr id="9" name="Rectangle 8"/>
          <p:cNvSpPr/>
          <p:nvPr/>
        </p:nvSpPr>
        <p:spPr>
          <a:xfrm>
            <a:off x="393192" y="6487668"/>
            <a:ext cx="11384280" cy="12801"/>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6533388"/>
            <a:ext cx="8412480" cy="219456"/>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000" b="0" i="0">
                <a:solidFill>
                  <a:srgbClr val="58695D"/>
                </a:solidFill>
                <a:latin typeface="Aptos"/>
              </a:rPr>
              <a:t>INDEPENDENT PORTFOLIO ANALYSIS  |  LCCC PUBLIC DATA</a:t>
            </a:r>
          </a:p>
        </p:txBody>
      </p:sp>
      <p:sp>
        <p:nvSpPr>
          <p:cNvPr id="11" name="TextBox 10"/>
          <p:cNvSpPr txBox="1"/>
          <p:nvPr/>
        </p:nvSpPr>
        <p:spPr>
          <a:xfrm>
            <a:off x="8686800" y="6533388"/>
            <a:ext cx="3063240" cy="219456"/>
          </a:xfrm>
          <a:prstGeom prst="rect">
            <a:avLst/>
          </a:prstGeom>
          <a:noFill/>
        </p:spPr>
        <p:txBody>
          <a:bodyPr wrap="square" lIns="27432" tIns="27432" rIns="27432" bIns="27432" anchor="t">
            <a:spAutoFit/>
          </a:bodyPr>
          <a:lstStyle/>
          <a:p>
            <a:pPr algn="r">
              <a:lnSpc>
                <a:spcPct val="112000"/>
              </a:lnSpc>
              <a:spcBef>
                <a:spcPts val="0"/>
              </a:spcBef>
              <a:spcAft>
                <a:spcPts val="0"/>
              </a:spcAft>
            </a:pPr>
            <a:r>
              <a:rPr sz="1000" b="0" i="0">
                <a:solidFill>
                  <a:srgbClr val="58695D"/>
                </a:solidFill>
                <a:latin typeface="Aptos"/>
              </a:rPr>
              <a:t>CONCLUSION</a:t>
            </a:r>
          </a:p>
        </p:txBody>
      </p:sp>
      <p:sp>
        <p:nvSpPr>
          <p:cNvPr id="12" name="TextBox 11"/>
          <p:cNvSpPr txBox="1"/>
          <p:nvPr/>
        </p:nvSpPr>
        <p:spPr>
          <a:xfrm>
            <a:off x="576072" y="914400"/>
            <a:ext cx="2743200" cy="29260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Primary source</a:t>
            </a:r>
          </a:p>
        </p:txBody>
      </p:sp>
      <p:sp>
        <p:nvSpPr>
          <p:cNvPr id="13" name="TextBox 12"/>
          <p:cNvSpPr txBox="1"/>
          <p:nvPr/>
        </p:nvSpPr>
        <p:spPr>
          <a:xfrm>
            <a:off x="576072" y="1344168"/>
            <a:ext cx="10835640" cy="74066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Low Carbon Contracts Company Open Data Portal</a:t>
            </a:r>
          </a:p>
          <a:p>
            <a:pPr algn="l">
              <a:lnSpc>
                <a:spcPct val="112000"/>
              </a:lnSpc>
              <a:spcBef>
                <a:spcPts val="0"/>
              </a:spcBef>
              <a:spcAft>
                <a:spcPts val="0"/>
              </a:spcAft>
            </a:pPr>
            <a:r>
              <a:rPr sz="1300" b="0" i="0">
                <a:solidFill>
                  <a:srgbClr val="1C2D25"/>
                </a:solidFill>
                <a:latin typeface="Aptos"/>
              </a:rPr>
              <a:t>https://dp.lowcarboncontracts.uk/</a:t>
            </a:r>
          </a:p>
        </p:txBody>
      </p:sp>
      <p:sp>
        <p:nvSpPr>
          <p:cNvPr id="14" name="Rectangle 13"/>
          <p:cNvSpPr/>
          <p:nvPr/>
        </p:nvSpPr>
        <p:spPr>
          <a:xfrm>
            <a:off x="566928" y="2185416"/>
            <a:ext cx="11009376" cy="18288"/>
          </a:xfrm>
          <a:prstGeom prst="rect">
            <a:avLst/>
          </a:prstGeom>
          <a:solidFill>
            <a:srgbClr val="D3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72" y="2386584"/>
            <a:ext cx="4389120" cy="283464"/>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400" b="1" i="0">
                <a:solidFill>
                  <a:srgbClr val="15402B"/>
                </a:solidFill>
                <a:latin typeface="Aptos"/>
              </a:rPr>
              <a:t>Project components</a:t>
            </a:r>
          </a:p>
        </p:txBody>
      </p:sp>
      <p:sp>
        <p:nvSpPr>
          <p:cNvPr id="16" name="Rectangle 15"/>
          <p:cNvSpPr/>
          <p:nvPr/>
        </p:nvSpPr>
        <p:spPr>
          <a:xfrm>
            <a:off x="594360" y="2889504"/>
            <a:ext cx="73152" cy="42976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2962656"/>
            <a:ext cx="10332720" cy="3383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Six source datasets and a documented analysis notebook</a:t>
            </a:r>
          </a:p>
        </p:txBody>
      </p:sp>
      <p:sp>
        <p:nvSpPr>
          <p:cNvPr id="18" name="Rectangle 17"/>
          <p:cNvSpPr/>
          <p:nvPr/>
        </p:nvSpPr>
        <p:spPr>
          <a:xfrm>
            <a:off x="594360" y="3557016"/>
            <a:ext cx="73152" cy="42976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3630168"/>
            <a:ext cx="10332720" cy="3383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Single validated Tableau CSV with 47,361 records and 26 metrics</a:t>
            </a:r>
          </a:p>
        </p:txBody>
      </p:sp>
      <p:sp>
        <p:nvSpPr>
          <p:cNvPr id="20" name="Rectangle 19"/>
          <p:cNvSpPr/>
          <p:nvPr/>
        </p:nvSpPr>
        <p:spPr>
          <a:xfrm>
            <a:off x="594360" y="4224528"/>
            <a:ext cx="73152" cy="429768"/>
          </a:xfrm>
          <a:prstGeom prst="rect">
            <a:avLst/>
          </a:prstGeom>
          <a:solidFill>
            <a:srgbClr val="51B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297680"/>
            <a:ext cx="10332720" cy="338328"/>
          </a:xfrm>
          <a:prstGeom prst="rect">
            <a:avLst/>
          </a:prstGeom>
          <a:noFill/>
        </p:spPr>
        <p:txBody>
          <a:bodyPr wrap="square" lIns="27432" tIns="27432" rIns="27432" bIns="27432" anchor="t">
            <a:spAutoFit/>
          </a:bodyPr>
          <a:lstStyle/>
          <a:p>
            <a:pPr algn="l">
              <a:lnSpc>
                <a:spcPct val="112000"/>
              </a:lnSpc>
              <a:spcBef>
                <a:spcPts val="0"/>
              </a:spcBef>
              <a:spcAft>
                <a:spcPts val="0"/>
              </a:spcAft>
            </a:pPr>
            <a:r>
              <a:rPr sz="1300" b="0" i="0">
                <a:solidFill>
                  <a:srgbClr val="1C2D25"/>
                </a:solidFill>
                <a:latin typeface="Aptos"/>
              </a:rPr>
              <a:t>17 worksheet visualisations and four Tableau dashboards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7702</Words>
  <Application>Microsoft Macintosh PowerPoint</Application>
  <PresentationFormat>Widescreen</PresentationFormat>
  <Paragraphs>781</Paragraphs>
  <Slides>81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81</vt:i4>
      </vt:variant>
    </vt:vector>
  </HeadingPairs>
  <TitlesOfParts>
    <vt:vector size="8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Tanishk Shinde</cp:lastModifiedBy>
  <cp:revision>2</cp:revision>
  <dcterms:created xsi:type="dcterms:W3CDTF">2013-01-27T09:14:16Z</dcterms:created>
  <dcterms:modified xsi:type="dcterms:W3CDTF">2026-10-11T16:41:51Z</dcterms:modified>
  <cp:category/>
</cp:coreProperties>
</file>